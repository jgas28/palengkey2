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af32dd7-ab57-48f8-9784-062d57b8cb71}">
          <p14:sldIdLst>
            <p14:sldId id="256"/>
            <p14:sldId id="257"/>
            <p14:sldId id="258"/>
          </p14:sldIdLst>
        </p14:section>
        <p14:section name="Customer website" id="{666c40b1-f550-d254-0fba-092aae388c9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Admin CMS" id="{e68ff6f1-8b6b-771a-fe11-2438e04ffed5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ustomer mobile app" id="{9c7fd066-393b-8e6b-cdc9-4352399e16e6}">
          <p14:sldIdLst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Driver (rider) app" id="{a9ce3bb3-a7de-1dd2-dc3e-3c7f8342e650}">
          <p14:sldIdLst>
            <p14:sldId id="288"/>
            <p14:sldId id="289"/>
            <p14:sldId id="290"/>
            <p14:sldId id="291"/>
          </p14:sldIdLst>
        </p14:section>
        <p14:section name="Sign-off" id="{434ff339-7c82-9209-9858-23973c4a9f92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One checklist per part of Palengkey; test on staging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Account &amp; login. 7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Shop &amp; search.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Product availability.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Cart.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Checkout &amp; payment. 7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Orders &amp; tracking.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Paluto &amp; recipes.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Profile, support &amp; account.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Homepage &amp; content.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website — Error &amp; maintenance pages.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Login &amp; access.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Dashboard &amp; orders list.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Order detail.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Editing order items.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Riders &amp; tracking.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Items. 7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Catalog setup.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Paluto &amp; recipes.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Customers &amp; support.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Storefront content &amp; marketing.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CMS — Team, settings &amp; reports.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mobile app — Install &amp; start.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mobile app — Login &amp; account.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mobile app — Shopping &amp; checkout.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mobile app — Phone features.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mobile app — Android behaviour. 4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(rider) app — Login &amp; profile.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(rider) app — Orders &amp; delivery. 6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Driver (rider) app — Location &amp; security. 5 test cases. Mark Pass/Fail and add notes for every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292608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Palengkey · UAT checklist ·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ECKLIS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b="1" dirty="0">
                <a:solidFill>
                  <a:schemeClr val="accent5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Palengkey · UAT checklist ·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Palengkey · UAT checklist ·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User acceptance testing checklist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Customer website · Admin CMS · Customer mobile app · Driver app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151 test cases · staging environment</a:t>
            </a:r>
            <a:endParaRPr lang="en-US" sz="1800" dirty="0"/>
          </a:p>
        </p:txBody>
      </p:sp>
      <p:sp>
        <p:nvSpPr>
          <p:cNvPr id="4" name="Logo card"/>
          <p:cNvSpPr/>
          <p:nvPr/>
        </p:nvSpPr>
        <p:spPr>
          <a:xfrm>
            <a:off x="731520" y="731520"/>
            <a:ext cx="283464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</p:sp>
      <p:pic>
        <p:nvPicPr>
          <p:cNvPr id="5" name="Logo" descr="Palengkey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822960"/>
            <a:ext cx="2468880" cy="731520"/>
          </a:xfrm>
          <a:prstGeom prst="rect">
            <a:avLst/>
          </a:prstGeom>
        </p:spPr>
      </p:pic>
      <p:sp>
        <p:nvSpPr>
          <p:cNvPr id="6" name="Hero circle"/>
          <p:cNvSpPr/>
          <p:nvPr/>
        </p:nvSpPr>
        <p:spPr>
          <a:xfrm>
            <a:off x="9052560" y="1828800"/>
            <a:ext cx="2560320" cy="25603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Hero icon" descr="Bask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42316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to run this checklist</a:t>
            </a:r>
            <a:endParaRPr lang="en-US" sz="3600" dirty="0"/>
          </a:p>
        </p:txBody>
      </p:sp>
      <p:sp>
        <p:nvSpPr>
          <p:cNvPr id="3" name="How card 1"/>
          <p:cNvSpPr/>
          <p:nvPr/>
        </p:nvSpPr>
        <p:spPr>
          <a:xfrm>
            <a:off x="457200" y="1371600"/>
            <a:ext cx="3611880" cy="4754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How icon bg 1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How icon 1" descr="Before you st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65760" cy="365760"/>
          </a:xfrm>
          <a:prstGeom prst="rect">
            <a:avLst/>
          </a:prstGeom>
        </p:spPr>
      </p:pic>
      <p:sp>
        <p:nvSpPr>
          <p:cNvPr id="6" name="How head 1"/>
          <p:cNvSpPr txBox="1"/>
          <p:nvPr/>
        </p:nvSpPr>
        <p:spPr>
          <a:xfrm>
            <a:off x="73152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Before you start</a:t>
            </a:r>
            <a:endParaRPr lang="en-US" sz="2000" dirty="0"/>
          </a:p>
        </p:txBody>
      </p:sp>
      <p:sp>
        <p:nvSpPr>
          <p:cNvPr id="7" name="How list 1"/>
          <p:cNvSpPr txBox="1"/>
          <p:nvPr/>
        </p:nvSpPr>
        <p:spPr>
          <a:xfrm>
            <a:off x="731520" y="29260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 on staging only: staging.palengkey.com and the staging Android APKs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test customer, admin and rider accounts — never real customers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Online payments: PayMongo / BPI test mode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Note the app or build version on the sign-off slide</a:t>
            </a:r>
            <a:endParaRPr lang="en-US" sz="1400" dirty="0"/>
          </a:p>
        </p:txBody>
      </p:sp>
      <p:sp>
        <p:nvSpPr>
          <p:cNvPr id="8" name="How card 2"/>
          <p:cNvSpPr/>
          <p:nvPr/>
        </p:nvSpPr>
        <p:spPr>
          <a:xfrm>
            <a:off x="4279392" y="1371600"/>
            <a:ext cx="3611880" cy="4754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9" name="How icon bg 2"/>
          <p:cNvSpPr/>
          <p:nvPr/>
        </p:nvSpPr>
        <p:spPr>
          <a:xfrm>
            <a:off x="4553712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How icon 2" descr="Marking each t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83080"/>
            <a:ext cx="365760" cy="365760"/>
          </a:xfrm>
          <a:prstGeom prst="rect">
            <a:avLst/>
          </a:prstGeom>
        </p:spPr>
      </p:pic>
      <p:sp>
        <p:nvSpPr>
          <p:cNvPr id="11" name="How head 2"/>
          <p:cNvSpPr txBox="1"/>
          <p:nvPr/>
        </p:nvSpPr>
        <p:spPr>
          <a:xfrm>
            <a:off x="4553712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Marking each test</a:t>
            </a:r>
            <a:endParaRPr lang="en-US" sz="2000" dirty="0"/>
          </a:p>
        </p:txBody>
      </p:sp>
      <p:sp>
        <p:nvSpPr>
          <p:cNvPr id="12" name="How list 2"/>
          <p:cNvSpPr txBox="1"/>
          <p:nvPr/>
        </p:nvSpPr>
        <p:spPr>
          <a:xfrm>
            <a:off x="4553712" y="29260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Tick ☐ Pass when the expected result happens exactly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Tick ☐ Fail and write what happened in Notes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Write “Blocked” if a test can’t run (e.g. waiting on setup)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Attach a screenshot for every failure</a:t>
            </a:r>
            <a:endParaRPr lang="en-US" sz="1400" dirty="0"/>
          </a:p>
        </p:txBody>
      </p:sp>
      <p:sp>
        <p:nvSpPr>
          <p:cNvPr id="13" name="How card 3"/>
          <p:cNvSpPr/>
          <p:nvPr/>
        </p:nvSpPr>
        <p:spPr>
          <a:xfrm>
            <a:off x="8101584" y="1371600"/>
            <a:ext cx="3611880" cy="4754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4" name="How icon bg 3"/>
          <p:cNvSpPr/>
          <p:nvPr/>
        </p:nvSpPr>
        <p:spPr>
          <a:xfrm>
            <a:off x="8375904" y="16459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How icon 3" descr="How serious is a failure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783080"/>
            <a:ext cx="365760" cy="365760"/>
          </a:xfrm>
          <a:prstGeom prst="rect">
            <a:avLst/>
          </a:prstGeom>
        </p:spPr>
      </p:pic>
      <p:sp>
        <p:nvSpPr>
          <p:cNvPr id="16" name="How head 3"/>
          <p:cNvSpPr txBox="1"/>
          <p:nvPr/>
        </p:nvSpPr>
        <p:spPr>
          <a:xfrm>
            <a:off x="8375904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How serious is a failure?</a:t>
            </a:r>
            <a:endParaRPr lang="en-US" sz="2000" dirty="0"/>
          </a:p>
        </p:txBody>
      </p:sp>
      <p:sp>
        <p:nvSpPr>
          <p:cNvPr id="17" name="How list 3"/>
          <p:cNvSpPr txBox="1"/>
          <p:nvPr/>
        </p:nvSpPr>
        <p:spPr>
          <a:xfrm>
            <a:off x="8375904" y="29260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Critical — can’t order, pay, log in or deliver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Major — wrong data or totals, a feature unusable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Minor — looks wrong, typo, slow but works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Critical and Major must be fixed before go-live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we are testing</a:t>
            </a:r>
            <a:endParaRPr lang="en-US" sz="3600" dirty="0"/>
          </a:p>
        </p:txBody>
      </p:sp>
      <p:sp>
        <p:nvSpPr>
          <p:cNvPr id="3" name="Overview card C"/>
          <p:cNvSpPr/>
          <p:nvPr/>
        </p:nvSpPr>
        <p:spPr>
          <a:xfrm>
            <a:off x="457200" y="137160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Overview icon bg C"/>
          <p:cNvSpPr/>
          <p:nvPr/>
        </p:nvSpPr>
        <p:spPr>
          <a:xfrm>
            <a:off x="777240" y="16916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Overview icon C" descr="Customer web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Overview name C"/>
          <p:cNvSpPr txBox="1"/>
          <p:nvPr/>
        </p:nvSpPr>
        <p:spPr>
          <a:xfrm>
            <a:off x="182880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Customer website</a:t>
            </a:r>
            <a:endParaRPr lang="en-US" sz="2200" dirty="0"/>
          </a:p>
        </p:txBody>
      </p:sp>
      <p:sp>
        <p:nvSpPr>
          <p:cNvPr id="7" name="Overview blurb C"/>
          <p:cNvSpPr txBox="1"/>
          <p:nvPr/>
        </p:nvSpPr>
        <p:spPr>
          <a:xfrm>
            <a:off x="182880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staging.palengkey.com — shoppers on a phone or computer browser</a:t>
            </a:r>
            <a:endParaRPr lang="en-US" sz="1400" dirty="0"/>
          </a:p>
        </p:txBody>
      </p:sp>
      <p:sp>
        <p:nvSpPr>
          <p:cNvPr id="8" name="Overview count C"/>
          <p:cNvSpPr txBox="1"/>
          <p:nvPr/>
        </p:nvSpPr>
        <p:spPr>
          <a:xfrm>
            <a:off x="461772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600" dirty="0"/>
          </a:p>
        </p:txBody>
      </p:sp>
      <p:sp>
        <p:nvSpPr>
          <p:cNvPr id="9" name="Overview meta C"/>
          <p:cNvSpPr txBox="1"/>
          <p:nvPr/>
        </p:nvSpPr>
        <p:spPr>
          <a:xfrm>
            <a:off x="18288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10 areas · 56 tests · IDs C-xx</a:t>
            </a:r>
            <a:endParaRPr lang="en-US" sz="1400" dirty="0"/>
          </a:p>
        </p:txBody>
      </p:sp>
      <p:sp>
        <p:nvSpPr>
          <p:cNvPr id="10" name="Overview card A"/>
          <p:cNvSpPr/>
          <p:nvPr/>
        </p:nvSpPr>
        <p:spPr>
          <a:xfrm>
            <a:off x="6172200" y="137160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Overview icon bg A"/>
          <p:cNvSpPr/>
          <p:nvPr/>
        </p:nvSpPr>
        <p:spPr>
          <a:xfrm>
            <a:off x="6492240" y="16916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Overview icon A" descr="Admin C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20"/>
            <a:ext cx="457200" cy="457200"/>
          </a:xfrm>
          <a:prstGeom prst="rect">
            <a:avLst/>
          </a:prstGeom>
        </p:spPr>
      </p:pic>
      <p:sp>
        <p:nvSpPr>
          <p:cNvPr id="13" name="Overview name A"/>
          <p:cNvSpPr txBox="1"/>
          <p:nvPr/>
        </p:nvSpPr>
        <p:spPr>
          <a:xfrm>
            <a:off x="754380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Admin CMS</a:t>
            </a:r>
            <a:endParaRPr lang="en-US" sz="2200" dirty="0"/>
          </a:p>
        </p:txBody>
      </p:sp>
      <p:sp>
        <p:nvSpPr>
          <p:cNvPr id="14" name="Overview blurb A"/>
          <p:cNvSpPr txBox="1"/>
          <p:nvPr/>
        </p:nvSpPr>
        <p:spPr>
          <a:xfrm>
            <a:off x="7543800" y="2148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staging.palengkey.com/admin — market admins and super admins</a:t>
            </a:r>
            <a:endParaRPr lang="en-US" sz="1400" dirty="0"/>
          </a:p>
        </p:txBody>
      </p:sp>
      <p:sp>
        <p:nvSpPr>
          <p:cNvPr id="15" name="Overview count A"/>
          <p:cNvSpPr txBox="1"/>
          <p:nvPr/>
        </p:nvSpPr>
        <p:spPr>
          <a:xfrm>
            <a:off x="1033272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600" dirty="0"/>
          </a:p>
        </p:txBody>
      </p:sp>
      <p:sp>
        <p:nvSpPr>
          <p:cNvPr id="16" name="Overview meta A"/>
          <p:cNvSpPr txBox="1"/>
          <p:nvPr/>
        </p:nvSpPr>
        <p:spPr>
          <a:xfrm>
            <a:off x="754380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11 areas · 58 tests · IDs A-xx</a:t>
            </a:r>
            <a:endParaRPr lang="en-US" sz="1400" dirty="0"/>
          </a:p>
        </p:txBody>
      </p:sp>
      <p:sp>
        <p:nvSpPr>
          <p:cNvPr id="17" name="Overview card M"/>
          <p:cNvSpPr/>
          <p:nvPr/>
        </p:nvSpPr>
        <p:spPr>
          <a:xfrm>
            <a:off x="457200" y="379476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8" name="Overview icon bg M"/>
          <p:cNvSpPr/>
          <p:nvPr/>
        </p:nvSpPr>
        <p:spPr>
          <a:xfrm>
            <a:off x="777240" y="411480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Overview icon M" descr="Customer mobile ap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97680"/>
            <a:ext cx="457200" cy="457200"/>
          </a:xfrm>
          <a:prstGeom prst="rect">
            <a:avLst/>
          </a:prstGeom>
        </p:spPr>
      </p:pic>
      <p:sp>
        <p:nvSpPr>
          <p:cNvPr id="20" name="Overview name M"/>
          <p:cNvSpPr txBox="1"/>
          <p:nvPr/>
        </p:nvSpPr>
        <p:spPr>
          <a:xfrm>
            <a:off x="182880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Customer mobile app</a:t>
            </a:r>
            <a:endParaRPr lang="en-US" sz="2200" dirty="0"/>
          </a:p>
        </p:txBody>
      </p:sp>
      <p:sp>
        <p:nvSpPr>
          <p:cNvPr id="21" name="Overview blurb M"/>
          <p:cNvSpPr txBox="1"/>
          <p:nvPr/>
        </p:nvSpPr>
        <p:spPr>
          <a:xfrm>
            <a:off x="1828800" y="4572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Android app (app-release.apk) — same shop, on the phone</a:t>
            </a:r>
            <a:endParaRPr lang="en-US" sz="1400" dirty="0"/>
          </a:p>
        </p:txBody>
      </p:sp>
      <p:sp>
        <p:nvSpPr>
          <p:cNvPr id="22" name="Overview count M"/>
          <p:cNvSpPr txBox="1"/>
          <p:nvPr/>
        </p:nvSpPr>
        <p:spPr>
          <a:xfrm>
            <a:off x="4617720" y="3977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600" dirty="0"/>
          </a:p>
        </p:txBody>
      </p:sp>
      <p:sp>
        <p:nvSpPr>
          <p:cNvPr id="23" name="Overview meta M"/>
          <p:cNvSpPr txBox="1"/>
          <p:nvPr/>
        </p:nvSpPr>
        <p:spPr>
          <a:xfrm>
            <a:off x="1828800" y="5257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5 areas · 21 tests · IDs M-xx</a:t>
            </a:r>
            <a:endParaRPr lang="en-US" sz="1400" dirty="0"/>
          </a:p>
        </p:txBody>
      </p:sp>
      <p:sp>
        <p:nvSpPr>
          <p:cNvPr id="24" name="Overview card D"/>
          <p:cNvSpPr/>
          <p:nvPr/>
        </p:nvSpPr>
        <p:spPr>
          <a:xfrm>
            <a:off x="6172200" y="3794760"/>
            <a:ext cx="54864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5" name="Overview icon bg D"/>
          <p:cNvSpPr/>
          <p:nvPr/>
        </p:nvSpPr>
        <p:spPr>
          <a:xfrm>
            <a:off x="6492240" y="411480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Overview icon D" descr="Driver (rider) 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97680"/>
            <a:ext cx="457200" cy="457200"/>
          </a:xfrm>
          <a:prstGeom prst="rect">
            <a:avLst/>
          </a:prstGeom>
        </p:spPr>
      </p:pic>
      <p:sp>
        <p:nvSpPr>
          <p:cNvPr id="27" name="Overview name D"/>
          <p:cNvSpPr txBox="1"/>
          <p:nvPr/>
        </p:nvSpPr>
        <p:spPr>
          <a:xfrm>
            <a:off x="754380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Driver (rider) app</a:t>
            </a:r>
            <a:endParaRPr lang="en-US" sz="2200" dirty="0"/>
          </a:p>
        </p:txBody>
      </p:sp>
      <p:sp>
        <p:nvSpPr>
          <p:cNvPr id="28" name="Overview blurb D"/>
          <p:cNvSpPr txBox="1"/>
          <p:nvPr/>
        </p:nvSpPr>
        <p:spPr>
          <a:xfrm>
            <a:off x="7543800" y="4572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Rider mobile app — riders delivering the orders</a:t>
            </a:r>
            <a:endParaRPr lang="en-US" sz="1400" dirty="0"/>
          </a:p>
        </p:txBody>
      </p:sp>
      <p:sp>
        <p:nvSpPr>
          <p:cNvPr id="29" name="Overview count D"/>
          <p:cNvSpPr txBox="1"/>
          <p:nvPr/>
        </p:nvSpPr>
        <p:spPr>
          <a:xfrm>
            <a:off x="10332720" y="3977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30" name="Overview meta D"/>
          <p:cNvSpPr txBox="1"/>
          <p:nvPr/>
        </p:nvSpPr>
        <p:spPr>
          <a:xfrm>
            <a:off x="7543800" y="5257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 areas · 16 tests · IDs D-xx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Customer website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292608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staging.palengkey.com — shoppers on a phone or computer browser</a:t>
            </a:r>
            <a:endParaRPr lang="en-US" sz="1800" dirty="0"/>
          </a:p>
        </p:txBody>
      </p:sp>
      <p:sp>
        <p:nvSpPr>
          <p:cNvPr id="4" name="Section icon bg"/>
          <p:cNvSpPr/>
          <p:nvPr/>
        </p:nvSpPr>
        <p:spPr>
          <a:xfrm>
            <a:off x="731520" y="173736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ection icon" descr="Customer web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94560"/>
            <a:ext cx="914400" cy="914400"/>
          </a:xfrm>
          <a:prstGeom prst="rect">
            <a:avLst/>
          </a:prstGeom>
        </p:spPr>
      </p:pic>
      <p:sp>
        <p:nvSpPr>
          <p:cNvPr id="6" name="Section areas 1"/>
          <p:cNvSpPr txBox="1"/>
          <p:nvPr/>
        </p:nvSpPr>
        <p:spPr>
          <a:xfrm>
            <a:off x="3108960" y="3657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Account &amp; login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Shop &amp; search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Product availability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Cart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Checkout &amp; payment</a:t>
            </a:r>
            <a:endParaRPr lang="en-US" sz="1600" dirty="0"/>
          </a:p>
        </p:txBody>
      </p:sp>
      <p:sp>
        <p:nvSpPr>
          <p:cNvPr id="7" name="Section areas 2"/>
          <p:cNvSpPr txBox="1"/>
          <p:nvPr/>
        </p:nvSpPr>
        <p:spPr>
          <a:xfrm>
            <a:off x="7315200" y="3657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Orders &amp; tracking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Paluto &amp; recipes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Profile, support &amp; account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Homepage &amp; content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Error &amp; maintenance pages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Account &amp; login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1 of 10</a:t>
            </a:r>
            <a:endParaRPr lang="en-US" sz="1200" dirty="0"/>
          </a:p>
        </p:txBody>
      </p:sp>
      <p:graphicFrame>
        <p:nvGraphicFramePr>
          <p:cNvPr id="6" name="C Account &amp; login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Register a new account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Sign up with name, email, phone, password → OTP email arrives → enter code → logged 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Log in with email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Enter email + password → OTP screen → enter code → lands on the shop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Wrong 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Enter a wrong password → red alert “Incorrect email or password.” on the form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Too many attempts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Fail 5 times within a minute → “Too many login attempts. Please wait a minute…”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Continue with Google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Tap Continue with Google → pick account → OTP → logged 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Forgot 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 reset → email link → set new password → old password no longer 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Log 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 out → Orders / Profile now send you to the login page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Shop &amp; search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2 of 10</a:t>
            </a:r>
            <a:endParaRPr lang="en-US" sz="1200" dirty="0"/>
          </a:p>
        </p:txBody>
      </p:sp>
      <p:graphicFrame>
        <p:nvGraphicFramePr>
          <p:cNvPr id="7" name="C Shop &amp; search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Choose a market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Pick a market → header shows it; products listed are from that market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Category filter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Tap a category → only that category shows; sidebar count matches results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Search “tilapia” / “pork” → matching items only; clear search restores all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Sort by 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Sort Low→High and High→Low → order is correct; no item repeats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Load every 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Scroll to the bottom repeatedly → more items load; total equals “N items found”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Product type filter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Pick a type (e.g. Wet goods) → list narrows; “All types” restores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Product availability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3 of 10</a:t>
            </a:r>
            <a:endParaRPr lang="en-US" sz="1200" dirty="0"/>
          </a:p>
        </p:txBody>
      </p:sp>
      <p:graphicFrame>
        <p:nvGraphicFramePr>
          <p:cNvPr id="8" name="C Product availability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Available 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Card shows price + Add; quick view lets you pick weight, quantity, notes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Out of stock 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Card shows “Out of stock · back tomorrow”; Add is disabled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Unavailable (seasonal) 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Card shows “Unavailable”; quick view says seasonal; cannot add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Past cutoff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After the item’s cutoff → “Order later” badge; can still add; delivered next slot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Bulk 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≥ the bulk kg on a bulk item → wholesale price and savings shown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Next-day restock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Item marked out of stock today → available again after 12:05 AM tomorrow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Cart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4 of 10</a:t>
            </a:r>
            <a:endParaRPr lang="en-US" sz="1200" dirty="0"/>
          </a:p>
        </p:txBody>
      </p:sp>
      <p:graphicFrame>
        <p:nvGraphicFramePr>
          <p:cNvPr id="9" name="C Car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Guest cart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items while logged out → log in → items are still in the cart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Change quantity / weight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Change qty or weight → line total and cart total update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Remove 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Remove a line → it disappears; totals recalculate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Paluto dish in cart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a stall dish → shows as a bundle with its ingredients and cooking fee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Recipe bundle in cart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Buy raw ingredients from a recipe → bundle appears; remove 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Fees shown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Cart shows subtotal, service fee, delivery fee, and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Checkout &amp; payment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5 of 10</a:t>
            </a:r>
            <a:endParaRPr lang="en-US" sz="1200" dirty="0"/>
          </a:p>
        </p:txBody>
      </p:sp>
      <p:graphicFrame>
        <p:nvGraphicFramePr>
          <p:cNvPr id="10" name="C Checkout &amp; paymen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Delivery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an address with the map pin → saved; delivery fee calculated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Delivery slot / order later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Pick a slot; past-cutoff items are marked “order later”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Voucher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Apply a valid code → discount; expired / below minimum spend → clear message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Cash on delivery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Unverified customer → asked to verify ID; approved customer → order placed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QR Ph / e-wallet / card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Pay with the test method → payment page → returns to app → order “paid”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BPI online banking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Pay via BPI → returns to Palengkey → order confirmed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confirmation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Confirmation page shows order number, items and total; email received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Orders &amp; tracking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6 of 10</a:t>
            </a:r>
            <a:endParaRPr lang="en-US" sz="1200" dirty="0"/>
          </a:p>
        </p:txBody>
      </p:sp>
      <p:graphicFrame>
        <p:nvGraphicFramePr>
          <p:cNvPr id="11" name="C Orders &amp; tracking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Orders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New order appears at the top with the right status and 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Status updates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moves order (confirmed → shopping → out for delivery → delivered) → customer sees each step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Live rider location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When out for delivery → map shows the rider moving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Notifications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Bell shows a notification for each status change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Rate the order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After delivery → leave stars + comment → appears in admin Suki Trust Level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Paluto &amp; recipes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7 of 10</a:t>
            </a:r>
            <a:endParaRPr lang="en-US" sz="1200" dirty="0"/>
          </a:p>
        </p:txBody>
      </p:sp>
      <p:graphicFrame>
        <p:nvGraphicFramePr>
          <p:cNvPr id="12" name="C Paluto &amp; recipe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Paluto stalls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Paluto page lists stalls for the market; open a stall → its menu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a dish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 a dish → pick quantity → add to cart → checkout 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Recipes page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Banner with photo; search and recipe-type filters narrow the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Recipe details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 a recipe → ingredients, steps; “Buy ingredients” adds a bundle to cart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Profile, support &amp; account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8 of 10</a:t>
            </a:r>
            <a:endParaRPr lang="en-US" sz="1200" dirty="0"/>
          </a:p>
        </p:txBody>
      </p:sp>
      <p:graphicFrame>
        <p:nvGraphicFramePr>
          <p:cNvPr id="13" name="C Profile, support &amp; accoun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Edit profile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Change name / phone → saved and shown everywhere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Change 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Change password → other devices are logged 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Addresses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Add, edit, delete, set default address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My vouchers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Vouchers page lists available codes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Support chat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Start a support thread → admin reply appears in the thread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Delete account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Request deletion → confirm code → account removed; cannot log 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Homepage &amp; content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9 of 10</a:t>
            </a:r>
            <a:endParaRPr lang="en-US" sz="1200" dirty="0"/>
          </a:p>
        </p:txBody>
      </p:sp>
      <p:graphicFrame>
        <p:nvGraphicFramePr>
          <p:cNvPr id="14" name="C Homepage &amp; conten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Homepage banners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Hero photos and texts match what is published in the CMS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Shop by 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 cards show photos and item counts; tap opens the shop filtered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Popup 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Live popup shows once per visit on the homepage; Close / CTA 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C-51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Reviews section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Badge shows the real review count and average rating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Footer pages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About, Careers, FAQ, Delivery areas, Privacy, Terms all open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Error &amp; maintenance pages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website · 10 of 10</a:t>
            </a:r>
            <a:endParaRPr lang="en-US" sz="1200" dirty="0"/>
          </a:p>
        </p:txBody>
      </p:sp>
      <p:graphicFrame>
        <p:nvGraphicFramePr>
          <p:cNvPr id="15" name="C Error &amp; maintenance page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Page not found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 a wrong address (e.g. /abc) → 404 page; Back to home / Browse the market 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C-54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Refresh any page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Refresh /shop or /orders on staging → page loads (no server “Not Found”)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Maintenance 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turns maintenance on → shoppers see “Sandali lang, mga suki.” with the back-online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C-56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Maintenance off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Admin turns it off → Check again returns the shopper to their page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Admin CMS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292608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staging.palengkey.com/admin — market admins and super admins</a:t>
            </a:r>
            <a:endParaRPr lang="en-US" sz="1800" dirty="0"/>
          </a:p>
        </p:txBody>
      </p:sp>
      <p:sp>
        <p:nvSpPr>
          <p:cNvPr id="4" name="Section icon bg"/>
          <p:cNvSpPr/>
          <p:nvPr/>
        </p:nvSpPr>
        <p:spPr>
          <a:xfrm>
            <a:off x="731520" y="173736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ection icon" descr="Admin C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94560"/>
            <a:ext cx="914400" cy="914400"/>
          </a:xfrm>
          <a:prstGeom prst="rect">
            <a:avLst/>
          </a:prstGeom>
        </p:spPr>
      </p:pic>
      <p:sp>
        <p:nvSpPr>
          <p:cNvPr id="6" name="Section areas 1"/>
          <p:cNvSpPr txBox="1"/>
          <p:nvPr/>
        </p:nvSpPr>
        <p:spPr>
          <a:xfrm>
            <a:off x="3108960" y="3657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Login &amp; access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Dashboard &amp; orders list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Order detail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Editing order items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Riders &amp; tracking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Items</a:t>
            </a:r>
            <a:endParaRPr lang="en-US" sz="1600" dirty="0"/>
          </a:p>
        </p:txBody>
      </p:sp>
      <p:sp>
        <p:nvSpPr>
          <p:cNvPr id="7" name="Section areas 2"/>
          <p:cNvSpPr txBox="1"/>
          <p:nvPr/>
        </p:nvSpPr>
        <p:spPr>
          <a:xfrm>
            <a:off x="7315200" y="3657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Catalog setup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Paluto &amp; recipes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Customers &amp; support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Storefront content &amp; marketing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Team, settings &amp; reports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Login &amp; access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1 of 11</a:t>
            </a:r>
            <a:endParaRPr lang="en-US" sz="1200" dirty="0"/>
          </a:p>
        </p:txBody>
      </p:sp>
      <p:graphicFrame>
        <p:nvGraphicFramePr>
          <p:cNvPr id="17" name="A Login &amp; acces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Log 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Valid email + password → 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Wrong password / lockout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Wrong password → “Incorrect email or password.”; 5 tries → wait-a-minute message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Customer account blocked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customer email cannot open the admin panel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Market admin scope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Market admin only sees orders, riders and prices of their own market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Super admin menus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Categories, Types &amp; Units, Markets, Accounts, Settings visible only to super 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Log 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 out → admin pages send you to the admin login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Dashboard &amp; orders list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2 of 11</a:t>
            </a:r>
            <a:endParaRPr lang="en-US" sz="1200" dirty="0"/>
          </a:p>
        </p:txBody>
      </p:sp>
      <p:graphicFrame>
        <p:nvGraphicFramePr>
          <p:cNvPr id="18" name="A Dashboard &amp; orders lis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Stats, sales chart, market performance and recent orders load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tabs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 / New / Confirmed / Shopping / Out for delivery / Delivered / Cancelled counts match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Search &amp; filter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Search by order no. or customer; “Order later only” filter 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Pagination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Next / previous pages; no order repeated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Export 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Export CSV → file opens with the filtered 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Order detail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3 of 11</a:t>
            </a:r>
            <a:endParaRPr lang="en-US" sz="1200" dirty="0"/>
          </a:p>
        </p:txBody>
      </p:sp>
      <p:graphicFrame>
        <p:nvGraphicFramePr>
          <p:cNvPr id="19" name="A Order detail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header &amp; stepper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 name, order no., placed time (Manila) and the 5-step progress show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Move status forward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Confirm → Shopping → Out for delivery → Delivered; history updates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Cancel order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Cancel with a reason → status Cancelled; customer notified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Print labels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Print labels opens printable labels for the order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Customer &amp; delivery card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Address, delivery window, payment method correct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history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Timeline lists every change with time and staff name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Editing order items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4 of 11</a:t>
            </a:r>
            <a:endParaRPr lang="en-US" sz="1200" dirty="0"/>
          </a:p>
        </p:txBody>
      </p:sp>
      <p:graphicFrame>
        <p:nvGraphicFramePr>
          <p:cNvPr id="20" name="A Editing order item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Reason required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Editing an item without a reason → blocked with a prompt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Change quantity / 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Change qty or customer price → totals update; refund amount shown if lower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Remove an 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Remove with a reason → item gone; totals recalculated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Vendor pricing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Vendor list price is read-only; haggled price + shopper note save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Assign shopper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Pick a shopper → saved and shown on reload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Assign rider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At “Shopping” stage pick a rider → rider sees the order in the rider app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Riders &amp; tracking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5 of 11</a:t>
            </a:r>
            <a:endParaRPr lang="en-US" sz="1200" dirty="0"/>
          </a:p>
        </p:txBody>
      </p:sp>
      <p:graphicFrame>
        <p:nvGraphicFramePr>
          <p:cNvPr id="21" name="A Riders &amp; tracking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Riders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Stats, tabs (Available / Delivering / Offline), search and pagination work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Add / edit rider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 a rider with market and vehicle; edit details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Set offline / available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Status dropdown changes the rider; offline riders can’t be assigned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Rider tracking map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Map shows riders; selecting one shows card, last ping, active order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View assignment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From the rider card open the active order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Items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6 of 11</a:t>
            </a:r>
            <a:endParaRPr lang="en-US" sz="1200" dirty="0"/>
          </a:p>
        </p:txBody>
      </p:sp>
      <p:graphicFrame>
        <p:nvGraphicFramePr>
          <p:cNvPr id="22" name="A Item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Items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Stats, search, category / market / status filters, pagination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Create an 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Details → pricing → cover photo → review → item created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Pricing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Vendor price → customer price and margin calculated (markup 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Availability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Set Available / Out of stock / Unavailable → shop shows the matching label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Mark out of stock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Header button → item back to Available next morning automatically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Photos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Replace cover photo; add / remove gallery photos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Deactivate / restore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Deactivated item disappears from the shop; restore brings it back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Catalog setup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7 of 11</a:t>
            </a:r>
            <a:endParaRPr lang="en-US" sz="1200" dirty="0"/>
          </a:p>
        </p:txBody>
      </p:sp>
      <p:graphicFrame>
        <p:nvGraphicFramePr>
          <p:cNvPr id="23" name="A Catalog setup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Inventory &amp; pricing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Pick a market → edit many prices → Save changes; CSV download / import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Categories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/ edit / deactivate; photo upload appears on the homepage category cards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Types &amp; units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/ edit / deactivate types and units; item counts shown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Markets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/ edit market, cutoff time, status (Active / Coming soon / Inactive)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Bulk pricing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Category bulk minimum and ₱/kg discount apply in the shop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Paluto &amp; recipes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8 of 11</a:t>
            </a:r>
            <a:endParaRPr lang="en-US" sz="1200" dirty="0"/>
          </a:p>
        </p:txBody>
      </p:sp>
      <p:graphicFrame>
        <p:nvGraphicFramePr>
          <p:cNvPr id="24" name="A Paluto &amp; recipe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Paluto stalls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/ edit stall, accepting-orders toggle, deactivate / restore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Stall menu (dishes)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a dish with ingredients and cooking fee → shows in the customer Paluto page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Recipes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 a recipe with ingredients and steps; Live / Deactivated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Recipe types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/ edit / deactivate filter tags; used as recipe filters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Customers &amp; support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9 of 11</a:t>
            </a:r>
            <a:endParaRPr lang="en-US" sz="1200" dirty="0"/>
          </a:p>
        </p:txBody>
      </p:sp>
      <p:graphicFrame>
        <p:nvGraphicFramePr>
          <p:cNvPr id="25" name="A Customers &amp; suppor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Support inbox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 / Closed tabs; reply to a thread; close and reopen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Suki trust level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Ratings list by filter; mark reviewed / move back to queue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Customer verification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Approve or reject an ID; customer can then use COD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COD submissions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Review ID submissions; approve / reject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Storefront content &amp; marketing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10 of 11</a:t>
            </a:r>
            <a:endParaRPr lang="en-US" sz="1200" dirty="0"/>
          </a:p>
        </p:txBody>
      </p:sp>
      <p:graphicFrame>
        <p:nvGraphicFramePr>
          <p:cNvPr id="26" name="A Storefront content &amp; marketing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Homepage hero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Edit content; on/off switch publishes or hides the banner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Highlights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 products, set order, hide / remove; homepage updates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Popup ads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Card shows Live / Scheduled / Expired / Draft correctly; live one shows on homepage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Vouchers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 / edit / delete; usage count increases after a customer uses 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SMS / email / push blast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Send to a TEST audience only → message received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Team, settings &amp; reports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Admin CMS · 11 of 11</a:t>
            </a:r>
            <a:endParaRPr lang="en-US" sz="1200" dirty="0"/>
          </a:p>
        </p:txBody>
      </p:sp>
      <p:graphicFrame>
        <p:nvGraphicFramePr>
          <p:cNvPr id="27" name="A Team, settings &amp; report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Team &amp; roles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Invite member, change role inline, reset password, remove; Active / Invited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Settings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 a group → change a value (e.g. service fee) → Save → applied at checkout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Maintenance mode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Turn on with a duration → shop shows maintenance page; turn off → live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Reports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Pick date range; each tab loads; CSV / Excel download; tables paginate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A-58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Audit logs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Changes made during this test appear with user, action and Manila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Customer mobile app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292608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Android app (app-release.apk) — same shop, on the phone</a:t>
            </a:r>
            <a:endParaRPr lang="en-US" sz="1800" dirty="0"/>
          </a:p>
        </p:txBody>
      </p:sp>
      <p:sp>
        <p:nvSpPr>
          <p:cNvPr id="4" name="Section icon bg"/>
          <p:cNvSpPr/>
          <p:nvPr/>
        </p:nvSpPr>
        <p:spPr>
          <a:xfrm>
            <a:off x="731520" y="173736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ection icon" descr="Customer mobile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94560"/>
            <a:ext cx="914400" cy="914400"/>
          </a:xfrm>
          <a:prstGeom prst="rect">
            <a:avLst/>
          </a:prstGeom>
        </p:spPr>
      </p:pic>
      <p:sp>
        <p:nvSpPr>
          <p:cNvPr id="6" name="Section areas 1"/>
          <p:cNvSpPr txBox="1"/>
          <p:nvPr/>
        </p:nvSpPr>
        <p:spPr>
          <a:xfrm>
            <a:off x="3108960" y="3657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Install &amp; start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Login &amp; account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Shopping &amp; checkout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Phone features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Android behaviour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Install &amp; start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mobile app · 1 of 5</a:t>
            </a:r>
            <a:endParaRPr lang="en-US" sz="1200" dirty="0"/>
          </a:p>
        </p:txBody>
      </p:sp>
      <p:graphicFrame>
        <p:nvGraphicFramePr>
          <p:cNvPr id="29" name="M Install &amp; star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Install the APK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Install app-release.apk → icon “Palengkey” on the home screen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First launch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 opens to the homepage; products load from driver.palengkey.com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Reopen the app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Close and reopen → still logged in, cart kept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No internet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Turn on airplane mode → friendly “can’t reach Palengkey” message, no crash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Login &amp; account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mobile app · 2 of 5</a:t>
            </a:r>
            <a:endParaRPr lang="en-US" sz="1200" dirty="0"/>
          </a:p>
        </p:txBody>
      </p:sp>
      <p:graphicFrame>
        <p:nvGraphicFramePr>
          <p:cNvPr id="30" name="M Login &amp; accoun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Email login + OTP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 in → OTP → shop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Google sign-in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Continue with Google on the phone → OTP → logged in (needs SHA-1 set up)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Wrong password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Red alert on the form; lockout after 5 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Log 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 out → protected pages ask to log 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Shopping &amp; checkout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mobile app · 3 of 5</a:t>
            </a:r>
            <a:endParaRPr lang="en-US" sz="1200" dirty="0"/>
          </a:p>
        </p:txBody>
      </p:sp>
      <p:graphicFrame>
        <p:nvGraphicFramePr>
          <p:cNvPr id="31" name="M Shopping &amp; checkout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Browse &amp; search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Categories, search, sort and availability labels same as website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Add, change qty, remove; totals correct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Cash on delivery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Verified customer places a COD order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Online payment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QR Ph / e-wallet opens the payment page and returns to the app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confirmation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Confirmation shows; order appears in My 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Phone features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mobile app · 4 of 5</a:t>
            </a:r>
            <a:endParaRPr lang="en-US" sz="1200" dirty="0"/>
          </a:p>
        </p:txBody>
      </p:sp>
      <p:graphicFrame>
        <p:nvGraphicFramePr>
          <p:cNvPr id="32" name="M Phone features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Location permission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Adding an address asks for location → map pin at your position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Camera / photos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 verification asks for camera or gallery → photo uploads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Notifications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Push notifications (only after Firebase file is added) — order updates arrive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Live tracking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Out for delivery → rider moves on the map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Android behaviour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Customer mobile app · 5 of 5</a:t>
            </a:r>
            <a:endParaRPr lang="en-US" sz="1200" dirty="0"/>
          </a:p>
        </p:txBody>
      </p:sp>
      <p:graphicFrame>
        <p:nvGraphicFramePr>
          <p:cNvPr id="33" name="M Android behaviour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Back button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Android back goes to the previous screen; doesn’t close mid-checkout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Screen rotation / resume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Rotate or switch apps and back → screen and cart kept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Maintenance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When admin turns on maintenance → maintenance page in the app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M-21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Small screen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 a small phone nothing is cut off; buttons reachable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Driver (rider) app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2926080"/>
            <a:ext cx="841248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Rider mobile app — riders delivering the orders</a:t>
            </a:r>
            <a:endParaRPr lang="en-US" sz="1800" dirty="0"/>
          </a:p>
        </p:txBody>
      </p:sp>
      <p:sp>
        <p:nvSpPr>
          <p:cNvPr id="4" name="Section icon bg"/>
          <p:cNvSpPr/>
          <p:nvPr/>
        </p:nvSpPr>
        <p:spPr>
          <a:xfrm>
            <a:off x="731520" y="173736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ection icon" descr="Driver (rider)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94560"/>
            <a:ext cx="914400" cy="914400"/>
          </a:xfrm>
          <a:prstGeom prst="rect">
            <a:avLst/>
          </a:prstGeom>
        </p:spPr>
      </p:pic>
      <p:sp>
        <p:nvSpPr>
          <p:cNvPr id="6" name="Section areas 1"/>
          <p:cNvSpPr txBox="1"/>
          <p:nvPr/>
        </p:nvSpPr>
        <p:spPr>
          <a:xfrm>
            <a:off x="3108960" y="3657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Login &amp; profile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Orders &amp; delivery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Location &amp; security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Login &amp; profile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Driver (rider) app · 1 of 3</a:t>
            </a:r>
            <a:endParaRPr lang="en-US" sz="1200" dirty="0"/>
          </a:p>
        </p:txBody>
      </p:sp>
      <p:graphicFrame>
        <p:nvGraphicFramePr>
          <p:cNvPr id="35" name="D Login &amp; profile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Rider login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Rider email + password → home 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Wrong password / lockout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Wrong password → error; too many tries → wait message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Inactive rider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Rider set Offline / inactive in admin → message to contact market admin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Edit profile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Change phone / details → saved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Log out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 out → back to login; old session no longer 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Orders &amp; delivery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Driver (rider) app · 2 of 3</a:t>
            </a:r>
            <a:endParaRPr lang="en-US" sz="1200" dirty="0"/>
          </a:p>
        </p:txBody>
      </p:sp>
      <p:graphicFrame>
        <p:nvGraphicFramePr>
          <p:cNvPr id="36" name="D Orders &amp; delivery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Dashboard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Shows today’s assigned orders and counts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Orders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Assigned orders appear after admin assigns the rider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Order details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Customer name, phone, address, items, amount to collect (COD) correct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Start delivery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Tap Start delivery → admin and customer see “Out for delivery”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Complete delivery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Tap Complete → order Delivered; leaves the active list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COD amount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Amount to collect matches the order total after any admin item edits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Location &amp; security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595360" y="411480"/>
            <a:ext cx="3136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Driver (rider) app · 3 of 3</a:t>
            </a:r>
            <a:endParaRPr lang="en-US" sz="1200" dirty="0"/>
          </a:p>
        </p:txBody>
      </p:sp>
      <p:graphicFrame>
        <p:nvGraphicFramePr>
          <p:cNvPr id="37" name="D Location &amp; security checkli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514600"/>
                <a:gridCol w="5349240"/>
                <a:gridCol w="1005840"/>
                <a:gridCol w="16733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Steps → expected 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Notes / tester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Location permission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 asks for location (incl. background) on first use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Live location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While delivering → admin Rider Tracking and customer map update every few seconds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Background ping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App in background → location still updates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Token required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After RIDER_API_AUTH_ENFORCED=true → logged-in app still works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5"/>
                          </a:solidFill>
                        </a:rPr>
                        <a:t>D-16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Other rider’s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rider cannot see or update another rider’s 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Pass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☐ Fail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UAT sign-off</a:t>
            </a:r>
            <a:endParaRPr lang="en-US" sz="3600" dirty="0"/>
          </a:p>
        </p:txBody>
      </p:sp>
      <p:graphicFrame>
        <p:nvGraphicFramePr>
          <p:cNvPr id="38" name="Results summary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68680"/>
                <a:gridCol w="868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Failed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Blocked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Customer website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Admin CMS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Customer mobile app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Driver (rider) app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151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Sign-off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371600"/>
          <a:ext cx="505663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216152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Signature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QA / tester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Product owner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Operations lead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Dev lead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Build card"/>
          <p:cNvSpPr/>
          <p:nvPr/>
        </p:nvSpPr>
        <p:spPr>
          <a:xfrm>
            <a:off x="6675120" y="4434840"/>
            <a:ext cx="5056632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6" name="Build details"/>
          <p:cNvSpPr txBox="1"/>
          <p:nvPr/>
        </p:nvSpPr>
        <p:spPr>
          <a:xfrm>
            <a:off x="6903720" y="452628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Tested build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Website: ______________   Admin: ______________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Customer APK: _________   Rider APK: _________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Go-live decision:  ☐ Approved   ☐ Not yet</a:t>
            </a:r>
            <a:endParaRPr lang="en-US" sz="1600" dirty="0"/>
          </a:p>
        </p:txBody>
      </p:sp>
      <p:sp>
        <p:nvSpPr>
          <p:cNvPr id="7" name="Sign-off rule"/>
          <p:cNvSpPr txBox="1"/>
          <p:nvPr/>
        </p:nvSpPr>
        <p:spPr>
          <a:xfrm>
            <a:off x="457200" y="53949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All Critical and Major failures must be fixed and re-tested before sign-off.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lengkey UAT">
  <a:themeElements>
    <a:clrScheme name="Palengkey UAT">
      <a:dk1>
        <a:srgbClr val="1F2A2C"/>
      </a:dk1>
      <a:lt1>
        <a:srgbClr val="FFFFFF"/>
      </a:lt1>
      <a:dk2>
        <a:srgbClr val="003F46"/>
      </a:dk2>
      <a:lt2>
        <a:srgbClr val="E6F7F9"/>
      </a:lt2>
      <a:accent1>
        <a:srgbClr val="0097A7"/>
      </a:accent1>
      <a:accent2>
        <a:srgbClr val="F9A825"/>
      </a:accent2>
      <a:accent3>
        <a:srgbClr val="CF5146"/>
      </a:accent3>
      <a:accent4>
        <a:srgbClr val="2E7D32"/>
      </a:accent4>
      <a:accent5>
        <a:srgbClr val="005C65"/>
      </a:accent5>
      <a:accent6>
        <a:srgbClr val="7A8789"/>
      </a:accent6>
      <a:hlink>
        <a:srgbClr val="0097A7"/>
      </a:hlink>
      <a:folHlink>
        <a:srgbClr val="005C65"/>
      </a:folHlink>
    </a:clrScheme>
    <a:fontScheme name="Palengkey U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Palengkey UAT Checklist</dc:title>
  <dc:subject>PptxGenJS Presentation</dc:subject>
  <dc:creator>Palengkey</dc:creator>
  <cp:lastModifiedBy>Palengkey</cp:lastModifiedBy>
  <cp:revision>1</cp:revision>
  <dcterms:created xsi:type="dcterms:W3CDTF">2026-10-25T10:56:44Z</dcterms:created>
  <dcterms:modified xsi:type="dcterms:W3CDTF">2026-10-25T10:56:44Z</dcterms:modified>
</cp:coreProperties>
</file>